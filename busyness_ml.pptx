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(riders)</c:v>
                </c:pt>
              </c:strCache>
            </c:strRef>
          </c:tx>
          <c:spPr>
            <a:ln w="31750">
              <a:solidFill>
                <a:srgbClr val="1E9E57"/>
              </a:solidFill>
            </a:ln>
          </c:spP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  <c:pt idx="9">
                  <c:v>40</c:v>
                </c:pt>
                <c:pt idx="10">
                  <c:v>60</c:v>
                </c:pt>
                <c:pt idx="11">
                  <c:v>100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231.1</c:v>
                </c:pt>
                <c:pt idx="1">
                  <c:v>228.6</c:v>
                </c:pt>
                <c:pt idx="2">
                  <c:v>228.3</c:v>
                </c:pt>
                <c:pt idx="3">
                  <c:v>232.4</c:v>
                </c:pt>
                <c:pt idx="4">
                  <c:v>224.7</c:v>
                </c:pt>
                <c:pt idx="5">
                  <c:v>219.3</c:v>
                </c:pt>
                <c:pt idx="6">
                  <c:v>224.4</c:v>
                </c:pt>
                <c:pt idx="7">
                  <c:v>226.3</c:v>
                </c:pt>
                <c:pt idx="8">
                  <c:v>229.8</c:v>
                </c:pt>
                <c:pt idx="9">
                  <c:v>235.5</c:v>
                </c:pt>
                <c:pt idx="10">
                  <c:v>245.6</c:v>
                </c:pt>
                <c:pt idx="11">
                  <c:v>262.7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210.0"/>
        </c:scaling>
        <c:delete val="0"/>
        <c:axPos val="l"/>
        <c:majorGridlines>
          <c:spPr>
            <a:ln w="6350">
              <a:solidFill>
                <a:srgbClr val="EAEFF3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by-station MAE</c:v>
                </c:pt>
              </c:strCache>
            </c:strRef>
          </c:tx>
          <c:dPt>
            <c:idx val="0"/>
            <c:spPr>
              <a:solidFill>
                <a:srgbClr val="1E9E57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0533D"/>
              </a:solidFill>
            </c:spPr>
          </c:dPt>
          <c:cat>
            <c:strRef>
              <c:f>Sheet1!$A$2:$A$4</c:f>
              <c:strCache>
                <c:ptCount val="3"/>
                <c:pt idx="0">
                  <c:v>KNN k=10
+ log</c:v>
                </c:pt>
                <c:pt idx="1">
                  <c:v>KNN k=1
(baseline)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217.8</c:v>
                </c:pt>
                <c:pt idx="1">
                  <c:v>231.1</c:v>
                </c:pt>
                <c:pt idx="2">
                  <c:v>233.7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>
                  <a:solidFill>
                    <a:srgbClr val="1B25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5.0"/>
          <c:min val="200.0"/>
        </c:scaling>
        <c:delete val="0"/>
        <c:axPos val="l"/>
        <c:majorGridlines>
          <c:spPr>
            <a:ln>
              <a:solidFill>
                <a:srgbClr val="EAEFF3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777240"/>
            <a:ext cx="201168" cy="201168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772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61872" y="777240"/>
            <a:ext cx="201168" cy="201168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35C281"/>
                </a:solidFill>
                <a:latin typeface="Calibri"/>
              </a:rPr>
              <a:t>PLUG &amp; WIFI  ·  DATA /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Predicting Area Busyness
for Workspace Venues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77639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C7D2DC"/>
                </a:solidFill>
                <a:latin typeface="Calibri"/>
              </a:rPr>
              <a:t>An end-to-end machine-learning pipeline — from MTA subway ridership to an in-app, colour-coded busyness indicator.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102352"/>
            <a:ext cx="164592" cy="164592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50383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DC"/>
                </a:solidFill>
                <a:latin typeface="Calibri"/>
              </a:rPr>
              <a:t>Quiet</a:t>
            </a:r>
          </a:p>
        </p:txBody>
      </p:sp>
      <p:sp>
        <p:nvSpPr>
          <p:cNvPr id="11" name="Oval 10"/>
          <p:cNvSpPr/>
          <p:nvPr/>
        </p:nvSpPr>
        <p:spPr>
          <a:xfrm>
            <a:off x="2075688" y="510235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50383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DC"/>
                </a:solidFill>
                <a:latin typeface="Calibri"/>
              </a:rPr>
              <a:t>Moderate</a:t>
            </a:r>
          </a:p>
        </p:txBody>
      </p:sp>
      <p:sp>
        <p:nvSpPr>
          <p:cNvPr id="13" name="Oval 12"/>
          <p:cNvSpPr/>
          <p:nvPr/>
        </p:nvSpPr>
        <p:spPr>
          <a:xfrm>
            <a:off x="3493008" y="5102352"/>
            <a:ext cx="164592" cy="164592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50383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DC"/>
                </a:solidFill>
                <a:latin typeface="Calibri"/>
              </a:rPr>
              <a:t>Busy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8415" y="6172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A7B2"/>
                </a:solidFill>
                <a:latin typeface="Calibri"/>
              </a:rPr>
              <a:t>30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How busy is the area around a venue?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550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00200"/>
            <a:ext cx="6272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530"/>
                </a:solidFill>
                <a:latin typeface="Calibri"/>
              </a:rPr>
              <a:t>Users pick cafes, lobbies and hotel bars to work from — we want a colour-coded busyness indicator so they choose the right spot at the right time.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694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514600"/>
            <a:ext cx="6272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530"/>
                </a:solidFill>
                <a:latin typeface="Calibri"/>
              </a:rPr>
              <a:t>There is no direct measurement of venue busyness — no ground-truth label to learn from.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4838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429000"/>
            <a:ext cx="6272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530"/>
                </a:solidFill>
                <a:latin typeface="Calibri"/>
              </a:rPr>
              <a:t>Insight: MTA subway ridership is public, hourly and geolocated — a strong proxy for street-level foot traffic. Weight it by proximity and time of day to estimate area busyness.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108960" cy="105156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85632" y="2020824"/>
            <a:ext cx="384048" cy="384048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928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530"/>
                </a:solidFill>
                <a:latin typeface="Calibri"/>
              </a:rPr>
              <a:t>Quiet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26771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Plenty of space — easy to focus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07792"/>
            <a:ext cx="3108960" cy="105156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85632" y="323697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108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530"/>
                </a:solidFill>
                <a:latin typeface="Calibri"/>
              </a:rP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4838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Filling up — some buzz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23944"/>
            <a:ext cx="3108960" cy="105156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85632" y="4453128"/>
            <a:ext cx="384048" cy="384048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432511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530"/>
                </a:solidFill>
                <a:latin typeface="Calibri"/>
              </a:rPr>
              <a:t>Busy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7000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Packed — hard to find a seat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975104" cy="22860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404872"/>
            <a:ext cx="512064" cy="51206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59736"/>
            <a:ext cx="5120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Venue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1188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OpenStreetMap
fetch_venues.py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6085" y="29718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9E57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4187" y="2148840"/>
            <a:ext cx="1975104" cy="22860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5707" y="240487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5707" y="2459736"/>
            <a:ext cx="5120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3915" y="310896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MTA ridership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915" y="361188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Socrata API
fetch_turnstiles.py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0193" y="29718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9E5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8295" y="2148840"/>
            <a:ext cx="1975104" cy="22860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39815" y="2404872"/>
            <a:ext cx="512064" cy="51206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9815" y="2459736"/>
            <a:ext cx="5120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8023" y="310896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Busyness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8023" y="361188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Distance-weighted KNN
train_model.py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4301" y="29718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9E5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403" y="2148840"/>
            <a:ext cx="1975104" cy="22860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3923" y="2404872"/>
            <a:ext cx="512064" cy="51206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3923" y="2459736"/>
            <a:ext cx="5120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131" y="310896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Weighted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131" y="361188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Combine signals
(deferred)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8409" y="29718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9E5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76511" y="2148840"/>
            <a:ext cx="1975104" cy="22860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08031" y="2404872"/>
            <a:ext cx="512064" cy="512064"/>
          </a:xfrm>
          <a:prstGeom prst="ellipse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8031" y="2459736"/>
            <a:ext cx="5120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6239" y="310896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Staging DB →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6239" y="361188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Cloud SQL Postgres
colour indicator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The venue and ridership pipelines feed the model; the model's output is bucketed into colours and written to the shared database the app reads from.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EPIC 0 · VENUE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Venue data from OpenStreetMap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0784"/>
            <a:ext cx="128016" cy="12801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27632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Fetch venues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892808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name, type, cuisine, address, lat/lon, opening hours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42032"/>
            <a:ext cx="128016" cy="12801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468880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Derive work-friendliness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34056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wifi, plug access, partner flag, ratings, hourly price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83280"/>
            <a:ext cx="128016" cy="12801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310128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Nearest-transit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575304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nearest subway &amp; bus + distances in metres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224528"/>
            <a:ext cx="128016" cy="12801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151376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Feature normalisation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4416552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raw signals → model-ready *_norm features (wifi, plug, rating, bus, train)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65776"/>
            <a:ext cx="128016" cy="12801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992624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Inferred vs user-reported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5257800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keep app-owned fields separate from pipeline-inferred 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91640"/>
            <a:ext cx="3246120" cy="338328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5C281"/>
                </a:solidFill>
                <a:latin typeface="Calibri"/>
              </a:rPr>
              <a:t>The trunk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42316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7D2DC"/>
                </a:solidFill>
                <a:latin typeface="Calibri"/>
              </a:rPr>
              <a:t>The venue table this produces is the foundation every other stage consumes — the busyness model and the scoring system both attach to these rows.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1605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7B2"/>
                </a:solidFill>
                <a:latin typeface="Calibri"/>
              </a:rPr>
              <a:t>Status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0" y="4572000"/>
            <a:ext cx="146304" cy="146304"/>
          </a:xfrm>
          <a:prstGeom prst="ellipse">
            <a:avLst/>
          </a:prstGeom>
          <a:solidFill>
            <a:srgbClr val="35C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5079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Pipeline 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F59E0B"/>
                </a:solidFill>
                <a:latin typeface="Calibri"/>
              </a:rPr>
              <a:t>EPIC 1 · MTA RIDERSHIP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Building the ridership training table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550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0020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Source: MTA Subway Hourly Ridership (Beginning 2025) — 39.4M rows, hourly &amp; geolocated.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694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51460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Socrata SODA API with server-side aggregation — 39M rows can't be bulk-pulled, so the GROUP-BY runs on the server.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4838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42900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Grain: station × hour × weekday/weekend → 48 rows per station, averaged over a 12-week window.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9826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34340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Target = avg_ridership (total ÷ days) — normalises weekday/weekend imbalance, station coverage gaps and window length into a stable 'typical day'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737360"/>
            <a:ext cx="3108960" cy="141732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385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59E0B"/>
                </a:solidFill>
                <a:latin typeface="Calibri"/>
              </a:rPr>
              <a:t>39.4M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9689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source rows (server-aggregated)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310128"/>
            <a:ext cx="3108960" cy="141732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51129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E9E57"/>
                </a:solidFill>
                <a:latin typeface="Calibri"/>
              </a:rPr>
              <a:t>~20k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169663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training rows  ·  428 stations × 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35C281"/>
                </a:solidFill>
                <a:latin typeface="Calibri"/>
              </a:rPr>
              <a:t>THE MODELLING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spatial interpolation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0784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45920"/>
            <a:ext cx="60899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D2DC"/>
                </a:solidFill>
                <a:latin typeface="Calibri"/>
              </a:rPr>
              <a:t>Predict busyness at a venue that sits between stations — a location with no direct measurement.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15184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560320"/>
            <a:ext cx="60899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D2DC"/>
                </a:solidFill>
                <a:latin typeface="Calibri"/>
              </a:rPr>
              <a:t>This is spatial interpolation, not classification — estimate a continuous value across geography.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29584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474720"/>
            <a:ext cx="60899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D2DC"/>
                </a:solidFill>
                <a:latin typeface="Calibri"/>
              </a:rPr>
              <a:t>No labelled venue busyness means a standard supervised model can't be trained on venues directly.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443983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389120"/>
            <a:ext cx="60899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D2DC"/>
                </a:solidFill>
                <a:latin typeface="Calibri"/>
              </a:rPr>
              <a:t>The model must generalise to unseen locations — and that requirement drives both the model choice and the evaluation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8961119" y="2468879"/>
            <a:ext cx="1014985" cy="1080821"/>
          </a:xfrm>
          <a:prstGeom prst="bentConnector3">
            <a:avLst/>
          </a:prstGeom>
          <a:ln w="15875">
            <a:solidFill>
              <a:srgbClr val="6F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76104" y="2606040"/>
            <a:ext cx="768096" cy="943660"/>
          </a:xfrm>
          <a:prstGeom prst="bentConnector3">
            <a:avLst/>
          </a:prstGeom>
          <a:ln w="15875">
            <a:solidFill>
              <a:srgbClr val="6F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098280" y="3549700"/>
            <a:ext cx="877824" cy="656540"/>
          </a:xfrm>
          <a:prstGeom prst="bentConnector3">
            <a:avLst/>
          </a:prstGeom>
          <a:ln w="15875">
            <a:solidFill>
              <a:srgbClr val="6F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6104" y="3549700"/>
            <a:ext cx="905255" cy="839420"/>
          </a:xfrm>
          <a:prstGeom prst="bentConnector3">
            <a:avLst/>
          </a:prstGeom>
          <a:ln w="15875">
            <a:solidFill>
              <a:srgbClr val="6F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869680" y="2377439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52760" y="2514600"/>
            <a:ext cx="182880" cy="18288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06840" y="4114800"/>
            <a:ext cx="182880" cy="182880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19" y="429768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0" y="3449116"/>
            <a:ext cx="310896" cy="310896"/>
          </a:xfrm>
          <a:prstGeom prst="ellipse">
            <a:avLst/>
          </a:prstGeom>
          <a:solidFill>
            <a:srgbClr val="35C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7783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451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9DB0BC"/>
                </a:solidFill>
                <a:latin typeface="Calibri"/>
              </a:rPr>
              <a:t>Weighted blend of nearby stations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E0533D"/>
                </a:solidFill>
                <a:latin typeface="Calibri"/>
              </a:rPr>
              <a:t>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Distance-weighted K-Nearest-Neighbours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0784"/>
            <a:ext cx="128016" cy="128016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27632"/>
            <a:ext cx="6181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Distance on lat/lon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892808"/>
            <a:ext cx="6181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geography is constant across time — no scaling of mixed 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69464"/>
            <a:ext cx="128016" cy="128016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496312"/>
            <a:ext cx="6181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hour &amp; day_type as lookup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61488"/>
            <a:ext cx="6181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exact-match slice, not distance dimensions — avoids time-blurring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38144"/>
            <a:ext cx="128016" cy="128016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364992"/>
            <a:ext cx="6181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One neighbour map + one lookup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630168"/>
            <a:ext cx="6181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not 48 separate models — geography is shared across all slices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306824"/>
            <a:ext cx="128016" cy="128016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233672"/>
            <a:ext cx="6181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Lazy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4498848"/>
            <a:ext cx="6181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no weights to train; predictions are fast neighbour look-ups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288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1031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C281"/>
                </a:solidFill>
                <a:latin typeface="Calibri"/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6060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busyness = </a:t>
            </a:r>
            <a:r>
              <a:rPr sz="1600" b="1" i="0">
                <a:solidFill>
                  <a:srgbClr val="35C281"/>
                </a:solidFill>
                <a:latin typeface="Calibri"/>
              </a:rPr>
              <a:t>Σ wᵢ · ride</a:t>
            </a:r>
            <a:r>
              <a:rPr sz="1100" b="0" i="0">
                <a:solidFill>
                  <a:srgbClr val="35C281"/>
                </a:solidFill>
                <a:latin typeface="Calibri"/>
              </a:rPr>
              <a:t>ᵢ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 /  Σ wᵢ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7D2DC"/>
                </a:solidFill>
                <a:latin typeface="Calibri"/>
              </a:rPr>
              <a:t>weight  wᵢ = 1 /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61188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9DB0BC"/>
                </a:solidFill>
                <a:latin typeface="Calibri"/>
              </a:rPr>
              <a:t>Closer stations dominate; far ones fade to near-zero weight.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EVALUATION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Honest evaluation: hold out whole stations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07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4592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Split by station, not by random rows — random rows leak: the same station at a different hour would appear in both train and test.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151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56032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Held-out stations simulate the real task: predicting at unseen locations, exactly like a venue.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295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474720"/>
            <a:ext cx="6181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Metric: MAE in riders, with mean ridership (~400) as context. Baseline to beat: nearest station (k =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74519"/>
            <a:ext cx="3337560" cy="2240280"/>
          </a:xfrm>
          <a:prstGeom prst="roundRect">
            <a:avLst>
              <a:gd name="adj" fmla="val 8000"/>
            </a:avLst>
          </a:prstGeom>
          <a:solidFill>
            <a:srgbClr val="FBEEEB"/>
          </a:solidFill>
          <a:ln w="12700">
            <a:solidFill>
              <a:srgbClr val="F0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214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533D"/>
                </a:solidFill>
                <a:latin typeface="Calibri"/>
              </a:rPr>
              <a:t>The leakage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5420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530"/>
                </a:solidFill>
                <a:latin typeface="Calibri"/>
              </a:rPr>
              <a:t>Random-row RandomForest looked near-perfect: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971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0533D"/>
                </a:solidFill>
                <a:latin typeface="Calibri"/>
              </a:rPr>
              <a:t>OOB R²  0.93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→  honest by-station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758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530"/>
                </a:solidFill>
                <a:latin typeface="Calibri"/>
              </a:rPr>
              <a:t>0.385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TUNING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A healthy bias–variance curve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8001000" y="1929384"/>
            <a:ext cx="128016" cy="12801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11896" y="1856231"/>
            <a:ext cx="3255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Minimum at k =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1896" y="2121408"/>
            <a:ext cx="3255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enough neighbours to be stable, still local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298094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2907791"/>
            <a:ext cx="3255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Rises again after the bottom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1896" y="3172968"/>
            <a:ext cx="3255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too many neighbours smear toward the city mean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4032503"/>
            <a:ext cx="128016" cy="128016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3959352"/>
            <a:ext cx="3255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It bottoms out, then worsens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4224527"/>
            <a:ext cx="3255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 real spatial optimum — not regression to the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x-axis: k (neighbours)   ·   y-axis: MAE in riders (lower is better)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E0533D"/>
                </a:solidFill>
                <a:latin typeface="Calibri"/>
              </a:rPr>
              <a:t>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KNN vs RandomForest vs baseline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82880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ECF6F0"/>
          </a:solidFill>
          <a:ln w="12700">
            <a:solidFill>
              <a:srgbClr val="BF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0574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9E57"/>
                </a:solidFill>
                <a:latin typeface="Calibri"/>
              </a:rPr>
              <a:t>KNN wins the honest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487168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Distance-weighted KNN beats both a smarter model (RandomForest) and the naive nearest-station baseline — all on the same held-out stations.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941063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6" y="3886200"/>
            <a:ext cx="3346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Lower MAE = better. All three scored on identical held-out-station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4805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RandomForest is a tree — boxy, axis-aligned splits that can't interpolate smoothly between stations or extrapolate past the busiest one seen.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E0533D"/>
                </a:solidFill>
                <a:latin typeface="Calibri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Why KNN wins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2743200"/>
          </a:xfrm>
          <a:prstGeom prst="roundRect">
            <a:avLst>
              <a:gd name="adj" fmla="val 6000"/>
            </a:avLst>
          </a:prstGeom>
          <a:solidFill>
            <a:srgbClr val="ECF6F0"/>
          </a:solidFill>
          <a:ln w="12700">
            <a:solidFill>
              <a:srgbClr val="BF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84248"/>
            <a:ext cx="310896" cy="31089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8424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530"/>
                </a:solidFill>
                <a:latin typeface="Calibri"/>
              </a:rPr>
              <a:t>KNN — distance space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151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560320"/>
            <a:ext cx="43982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530"/>
                </a:solidFill>
                <a:latin typeface="Calibri"/>
              </a:rPr>
              <a:t>Works natively in real geographic distance — the core signal.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82112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3127248"/>
            <a:ext cx="43982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530"/>
                </a:solidFill>
                <a:latin typeface="Calibri"/>
              </a:rPr>
              <a:t>Smoothly interpolates between stations and toward venues.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49039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3694176"/>
            <a:ext cx="43982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530"/>
                </a:solidFill>
                <a:latin typeface="Calibri"/>
              </a:rPr>
              <a:t>A weighted blend; closer stations count more.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91640"/>
            <a:ext cx="5257800" cy="274320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 w="12700">
            <a:solidFill>
              <a:srgbClr val="F0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0840" y="1984248"/>
            <a:ext cx="310896" cy="310896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98424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530"/>
                </a:solidFill>
                <a:latin typeface="Calibri"/>
              </a:rPr>
              <a:t>Trees — boxy space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26151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2560320"/>
            <a:ext cx="43982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530"/>
                </a:solidFill>
                <a:latin typeface="Calibri"/>
              </a:rPr>
              <a:t>Splits lat/lon into rectangular boxes — no diagonal distance.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3182112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1736" y="3127248"/>
            <a:ext cx="43982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530"/>
                </a:solidFill>
                <a:latin typeface="Calibri"/>
              </a:rPr>
              <a:t>Predicts a flat average per box; can't extrapolate past data.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749039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1736" y="3694176"/>
            <a:ext cx="43982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530"/>
                </a:solidFill>
                <a:latin typeface="Calibri"/>
              </a:rPr>
              <a:t>Tighter fit ≠ better generalisation to unseen locations.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C281"/>
                </a:solidFill>
                <a:latin typeface="Calibri"/>
              </a:rPr>
              <a:t>Refinement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852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Log-transform of skewed ridership → geometric blend, less dragged by hub stations.  </a:t>
            </a:r>
            <a:r>
              <a:rPr sz="1400" b="1" i="0">
                <a:solidFill>
                  <a:srgbClr val="35C281"/>
                </a:solidFill>
                <a:latin typeface="Calibri"/>
              </a:rPr>
              <a:t>MAE 219.3 → 217.8</a:t>
            </a:r>
            <a:r>
              <a:rPr sz="1400" b="0" i="0">
                <a:solidFill>
                  <a:srgbClr val="C7D2DC"/>
                </a:solidFill>
                <a:latin typeface="Calibri"/>
              </a:rPr>
              <a:t>  ·  a benchmarked, defensible choice — not a hunch.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F59E0B"/>
                </a:solidFill>
                <a:latin typeface="Calibri"/>
              </a:rPr>
              <a:t>SERVING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Precompute, don't predict live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078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27632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Persisted with joblib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892808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neighbour map + lookup + config, plus a metadata JSON (trained-at, git commit, features, eval MAE) for reproducibility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6090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587752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Lazy ≠ slow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852928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fit once, load once — the model is never retrained per request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62102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547872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Precompute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813048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score every venue × hour, store the colour in the database; the app just reads it — no model call on the request path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8114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507992"/>
            <a:ext cx="6272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530"/>
                </a:solidFill>
                <a:latin typeface="Calibri"/>
              </a:rPr>
              <a:t>Refresh on a 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4773168"/>
            <a:ext cx="6272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retrain and re-precompute when new MTA ridership lands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200400" cy="71323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2039112"/>
            <a:ext cx="292608" cy="292608"/>
          </a:xfrm>
          <a:prstGeom prst="ellipse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993392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530"/>
                </a:solidFill>
                <a:latin typeface="Calibri"/>
              </a:rPr>
              <a:t>Model (offline)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50545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E9E57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852928"/>
            <a:ext cx="3200400" cy="71323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8200" y="30632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01752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530"/>
                </a:solidFill>
                <a:latin typeface="Calibri"/>
              </a:rPr>
              <a:t>Precompute per 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529584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E9E57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77056"/>
            <a:ext cx="3200400" cy="71323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58200" y="4087368"/>
            <a:ext cx="292608" cy="292608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404164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530"/>
                </a:solidFill>
                <a:latin typeface="Calibri"/>
              </a:rPr>
              <a:t>Write to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553712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E9E57"/>
                </a:solidFill>
                <a:latin typeface="Calibr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901184"/>
            <a:ext cx="3200400" cy="71323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58200" y="5111496"/>
            <a:ext cx="292608" cy="292608"/>
          </a:xfrm>
          <a:prstGeom prst="ellipse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5065776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530"/>
                </a:solidFill>
                <a:latin typeface="Calibri"/>
              </a:rPr>
              <a:t>App reads colour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EPIC 3 · DATABASE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Loading into the staging database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07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45920"/>
            <a:ext cx="6272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Shared Cloud SQL Postgres, reached over the Cloud SQL Auth Proxy and inspected in DataGrip.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151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560320"/>
            <a:ext cx="6272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Schema gap analysis: pipeline output mapped against the 32-column venues table.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29584"/>
            <a:ext cx="128016" cy="128016"/>
          </a:xfrm>
          <a:prstGeom prst="ellipse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474720"/>
            <a:ext cx="6272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0"/>
                </a:solidFill>
                <a:latin typeface="Calibri"/>
              </a:rPr>
              <a:t>Safe load = column-aligned upsert on venue_id (never replace) — touch only inferred columns so app-owned fields stay intact.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78308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20116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Status</a:t>
            </a:r>
          </a:p>
        </p:txBody>
      </p:sp>
      <p:sp>
        <p:nvSpPr>
          <p:cNvPr id="13" name="Oval 12"/>
          <p:cNvSpPr/>
          <p:nvPr/>
        </p:nvSpPr>
        <p:spPr>
          <a:xfrm>
            <a:off x="8567928" y="2441448"/>
            <a:ext cx="146304" cy="14630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3591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530"/>
                </a:solidFill>
                <a:latin typeface="Calibri"/>
              </a:rPr>
              <a:t>Access + schema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61518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done</a:t>
            </a:r>
          </a:p>
        </p:txBody>
      </p:sp>
      <p:sp>
        <p:nvSpPr>
          <p:cNvPr id="16" name="Oval 15"/>
          <p:cNvSpPr/>
          <p:nvPr/>
        </p:nvSpPr>
        <p:spPr>
          <a:xfrm>
            <a:off x="8567928" y="3044952"/>
            <a:ext cx="146304" cy="14630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96265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530"/>
                </a:solidFill>
                <a:latin typeface="Calibri"/>
              </a:rPr>
              <a:t>Upsert strategy designed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21868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done</a:t>
            </a:r>
          </a:p>
        </p:txBody>
      </p:sp>
      <p:sp>
        <p:nvSpPr>
          <p:cNvPr id="19" name="Oval 18"/>
          <p:cNvSpPr/>
          <p:nvPr/>
        </p:nvSpPr>
        <p:spPr>
          <a:xfrm>
            <a:off x="8567928" y="3648456"/>
            <a:ext cx="146304" cy="14630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5661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530"/>
                </a:solidFill>
                <a:latin typeface="Calibri"/>
              </a:rPr>
              <a:t>*_norm column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8221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blocked — backend owner</a:t>
            </a:r>
          </a:p>
        </p:txBody>
      </p:sp>
      <p:sp>
        <p:nvSpPr>
          <p:cNvPr id="22" name="Oval 21"/>
          <p:cNvSpPr/>
          <p:nvPr/>
        </p:nvSpPr>
        <p:spPr>
          <a:xfrm>
            <a:off x="8567928" y="4251960"/>
            <a:ext cx="146304" cy="14630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41696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530"/>
                </a:solidFill>
                <a:latin typeface="Calibri"/>
              </a:rPr>
              <a:t>Drop stale noise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42569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blocked — backend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1E9E57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530"/>
                </a:solidFill>
                <a:latin typeface="Calibri"/>
              </a:rPr>
              <a:t>Where the project stands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093976"/>
            <a:ext cx="237744" cy="23774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02082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530"/>
                </a:solidFill>
                <a:latin typeface="Calibri"/>
              </a:rPr>
              <a:t>Done</a:t>
            </a:r>
          </a:p>
        </p:txBody>
      </p:sp>
      <p:sp>
        <p:nvSpPr>
          <p:cNvPr id="8" name="Oval 7"/>
          <p:cNvSpPr/>
          <p:nvPr/>
        </p:nvSpPr>
        <p:spPr>
          <a:xfrm>
            <a:off x="950976" y="2761488"/>
            <a:ext cx="100584" cy="10058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267919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Venue pipeline (OSM) + normalisation</a:t>
            </a:r>
          </a:p>
        </p:txBody>
      </p:sp>
      <p:sp>
        <p:nvSpPr>
          <p:cNvPr id="10" name="Oval 9"/>
          <p:cNvSpPr/>
          <p:nvPr/>
        </p:nvSpPr>
        <p:spPr>
          <a:xfrm>
            <a:off x="950976" y="3364992"/>
            <a:ext cx="100584" cy="10058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32826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MTA ridership training table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" y="3968496"/>
            <a:ext cx="100584" cy="10058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3886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Model selection + honest evaluation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" y="4572000"/>
            <a:ext cx="100584" cy="10058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448970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KNN chosen — beats RF &amp; baseline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5175504"/>
            <a:ext cx="100584" cy="10058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50932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Persistence / serving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7830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26864" y="209397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02082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530"/>
                </a:solidFill>
                <a:latin typeface="Calibri"/>
              </a:rPr>
              <a:t>In progress / blocked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276148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267919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DB load — backend coordination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45152" y="3364992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1184" y="32826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*_norm column storage decision</a:t>
            </a:r>
          </a:p>
        </p:txBody>
      </p:sp>
      <p:sp>
        <p:nvSpPr>
          <p:cNvPr id="25" name="Oval 24"/>
          <p:cNvSpPr/>
          <p:nvPr/>
        </p:nvSpPr>
        <p:spPr>
          <a:xfrm>
            <a:off x="4645152" y="396849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1184" y="3886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Scoring system (deferred by choice)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178308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5F6F7"/>
          </a:solidFill>
          <a:ln w="12700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2093976"/>
            <a:ext cx="237744" cy="23774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202082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530"/>
                </a:solidFill>
                <a:latin typeface="Calibri"/>
              </a:rPr>
              <a:t>Next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8" y="2761488"/>
            <a:ext cx="100584" cy="10058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67919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Stage 6 — apply model to all venues</a:t>
            </a:r>
          </a:p>
        </p:txBody>
      </p:sp>
      <p:sp>
        <p:nvSpPr>
          <p:cNvPr id="32" name="Oval 31"/>
          <p:cNvSpPr/>
          <p:nvPr/>
        </p:nvSpPr>
        <p:spPr>
          <a:xfrm>
            <a:off x="8339328" y="3364992"/>
            <a:ext cx="100584" cy="10058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2826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Stage 7 — bucket into colour bands</a:t>
            </a:r>
          </a:p>
        </p:txBody>
      </p:sp>
      <p:sp>
        <p:nvSpPr>
          <p:cNvPr id="34" name="Oval 33"/>
          <p:cNvSpPr/>
          <p:nvPr/>
        </p:nvSpPr>
        <p:spPr>
          <a:xfrm>
            <a:off x="8339328" y="3968496"/>
            <a:ext cx="100584" cy="10058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886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Measure colour-band accuracy</a:t>
            </a:r>
          </a:p>
        </p:txBody>
      </p:sp>
      <p:sp>
        <p:nvSpPr>
          <p:cNvPr id="36" name="Oval 35"/>
          <p:cNvSpPr/>
          <p:nvPr/>
        </p:nvSpPr>
        <p:spPr>
          <a:xfrm>
            <a:off x="8339328" y="4572000"/>
            <a:ext cx="100584" cy="100584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48970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0"/>
                </a:solidFill>
                <a:latin typeface="Calibri"/>
              </a:rPr>
              <a:t>k=1 vs k=10 on the real 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8415" y="6446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Adam T · Data / 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731520"/>
            <a:ext cx="182880" cy="18288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" y="73152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7007" y="731520"/>
            <a:ext cx="182880" cy="182880"/>
          </a:xfrm>
          <a:prstGeom prst="ellipse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60">
                <a:solidFill>
                  <a:srgbClr val="35C281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What this work delivers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69464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514600"/>
            <a:ext cx="1011326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7D2DC"/>
                </a:solidFill>
                <a:latin typeface="Calibri"/>
              </a:rPr>
              <a:t>A real, benchmarked spatial model — KNN beats both a RandomForest and the nearest-station baseline on an honest held-out-station test.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10712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355848"/>
            <a:ext cx="1011326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7D2DC"/>
                </a:solidFill>
                <a:latin typeface="Calibri"/>
              </a:rPr>
              <a:t>The proxy approach turns 'no busyness label' into a tractable problem using public MTA ridership.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51959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197096"/>
            <a:ext cx="1011326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7D2DC"/>
                </a:solidFill>
                <a:latin typeface="Calibri"/>
              </a:rPr>
              <a:t>End-to-end: OpenStreetMap venues → ridership → model → colour-coded indicator in the app.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93207"/>
            <a:ext cx="128016" cy="128016"/>
          </a:xfrm>
          <a:prstGeom prst="ellipse">
            <a:avLst/>
          </a:prstGeom>
          <a:solidFill>
            <a:srgbClr val="C7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5038344"/>
            <a:ext cx="1011326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7D2DC"/>
                </a:solidFill>
                <a:latin typeface="Calibri"/>
              </a:rPr>
              <a:t>The decision metric ahead is colour-band accuracy — not another decimal of MAE.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7B2"/>
                </a:solidFill>
                <a:latin typeface="Calibri"/>
              </a:rPr>
              <a:t>Plug &amp; WiFi · Area-Busyness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215" y="6355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A7B2"/>
                </a:solidFill>
                <a:latin typeface="Calibri"/>
              </a:rPr>
              <a:t>Adam T · Data / ML · 30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